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Raleway" charset="1" panose="00000000000000000000"/>
      <p:regular r:id="rId18"/>
    </p:embeddedFont>
    <p:embeddedFont>
      <p:font typeface="Raleway Heavy" charset="1" panose="00000000000000000000"/>
      <p:regular r:id="rId19"/>
    </p:embeddedFont>
    <p:embeddedFont>
      <p:font typeface="Raleway Medium" charset="1" panose="00000000000000000000"/>
      <p:regular r:id="rId20"/>
    </p:embeddedFont>
    <p:embeddedFont>
      <p:font typeface="Open Sans Bold" charset="1" panose="020B0806030504020204"/>
      <p:regular r:id="rId21"/>
    </p:embeddedFont>
    <p:embeddedFont>
      <p:font typeface="Open Sans" charset="1" panose="020B0606030504020204"/>
      <p:regular r:id="rId22"/>
    </p:embeddedFont>
    <p:embeddedFont>
      <p:font typeface="Arimo Bold" charset="1" panose="020B0704020202020204"/>
      <p:regular r:id="rId23"/>
    </p:embeddedFont>
    <p:embeddedFont>
      <p:font typeface="Arimo" charset="1" panose="020B0604020202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Masters/notesMaster1.xml" Type="http://schemas.openxmlformats.org/officeDocument/2006/relationships/notesMaster"/><Relationship Id="rId26" Target="theme/theme2.xml" Type="http://schemas.openxmlformats.org/officeDocument/2006/relationships/theme"/><Relationship Id="rId27" Target="notesSlides/notesSlide1.xml" Type="http://schemas.openxmlformats.org/officeDocument/2006/relationships/notesSlide"/><Relationship Id="rId28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Na seção anterior vimos uma fotografia: uma única abertura de vendas. Agora transformamos isso em um filme: três aberturas seguidas, em que cada lado aprende com a anterior.</a:t>
            </a:r>
          </a:p>
          <a:p>
            <a:r>
              <a:rPr lang="en-US"/>
              <a:t/>
            </a:r>
          </a:p>
          <a:p>
            <a:r>
              <a:rPr lang="en-US"/>
              <a:t>Na rodada 1, o scalper compra como um comprador comum, só para testar. Não há CAPTCHA nem bloqueio. Ele descobre que o limite é só por CPF e conclui que automatizar compensa.</a:t>
            </a:r>
          </a:p>
          <a:p>
            <a:r>
              <a:rPr lang="en-US"/>
              <a:t/>
            </a:r>
          </a:p>
          <a:p>
            <a:r>
              <a:rPr lang="en-US"/>
              <a:t>Na rodada 2, ele usa dezenas de contas e bots. A plataforma detecta o pico no meio da venda e ativa CAPTCHA, rate limit e bloqueios. Essa resposta também gera informação: o scalper descobre o limiar, e a plataforma, a assinatura dos bots.</a:t>
            </a:r>
          </a:p>
          <a:p>
            <a:r>
              <a:rPr lang="en-US"/>
              <a:t/>
            </a:r>
          </a:p>
          <a:p>
            <a:r>
              <a:rPr lang="en-US"/>
              <a:t>Na rodada 3, ele volta com cadência humana, contas envelhecidas e CAPTCHA terceirizado. A plataforma responde com análise comportamental e checagem pós-compra. E o comprador legítimo paga parte desse custo, com mais atrito.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Esse ciclo se repete: ação, resposta, observação e adaptação. O scalper mantém o objetivo e muda só a ação. A plataforma também observa e adapta.</a:t>
            </a:r>
          </a:p>
          <a:p>
            <a:r>
              <a:rPr lang="en-US"/>
              <a:t/>
            </a:r>
          </a:p>
          <a:p>
            <a:r>
              <a:rPr lang="en-US"/>
              <a:t>A partir da rodada 3 surge a corrida armamentista, sustentada pelo ágio da revenda. A defesa não encerra o conflito: o sistema precisa variar os controles e também reduzir o incentivo.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ithub.com/felipehscherer/trabalho-engenharia-adversarial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472033"/>
            <a:ext cx="15448194" cy="73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6"/>
              </a:lnSpc>
            </a:pPr>
            <a:r>
              <a:rPr lang="en-US" sz="4333" spc="-86">
                <a:solidFill>
                  <a:srgbClr val="FF914D"/>
                </a:solidFill>
                <a:latin typeface="Raleway"/>
                <a:ea typeface="Raleway"/>
                <a:cs typeface="Raleway"/>
                <a:sym typeface="Raleway"/>
              </a:rPr>
              <a:t>VENDA DE INGRESSOS · FILA VIRTUAL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908333"/>
            <a:ext cx="15448194" cy="391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60"/>
              </a:lnSpc>
            </a:pPr>
            <a:r>
              <a:rPr lang="en-US" b="true" sz="12000" spc="-240">
                <a:solidFill>
                  <a:srgbClr val="FF914D"/>
                </a:solidFill>
                <a:latin typeface="Raleway Heavy"/>
                <a:ea typeface="Raleway Heavy"/>
                <a:cs typeface="Raleway Heavy"/>
                <a:sym typeface="Raleway Heavy"/>
              </a:rPr>
              <a:t>A</a:t>
            </a:r>
            <a:r>
              <a:rPr lang="en-US" b="true" sz="12000" spc="-240">
                <a:solidFill>
                  <a:srgbClr val="FF914D"/>
                </a:solidFill>
                <a:latin typeface="Raleway Heavy"/>
                <a:ea typeface="Raleway Heavy"/>
                <a:cs typeface="Raleway Heavy"/>
                <a:sym typeface="Raleway Heavy"/>
              </a:rPr>
              <a:t>NÁLISE DE UM SISTEMA ADVERSARIAL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57097" y="971550"/>
            <a:ext cx="3773805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696863"/>
                </a:solidFill>
                <a:latin typeface="Raleway"/>
                <a:ea typeface="Raleway"/>
                <a:cs typeface="Raleway"/>
                <a:sym typeface="Raleway"/>
              </a:rPr>
              <a:t>G</a:t>
            </a:r>
            <a:r>
              <a:rPr lang="en-US" sz="2499">
                <a:solidFill>
                  <a:srgbClr val="696863"/>
                </a:solidFill>
                <a:latin typeface="Raleway"/>
                <a:ea typeface="Raleway"/>
                <a:cs typeface="Raleway"/>
                <a:sym typeface="Raleway"/>
              </a:rPr>
              <a:t>RUPO 1 · TRABALHO 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723242" y="971550"/>
            <a:ext cx="2495690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 spc="-87">
                <a:solidFill>
                  <a:srgbClr val="696863"/>
                </a:solidFill>
                <a:latin typeface="Raleway"/>
                <a:ea typeface="Raleway"/>
                <a:cs typeface="Raleway"/>
                <a:sym typeface="Raleway"/>
              </a:rPr>
              <a:t>ENGENHARIA DE SOFTWARE ADVERSARIAL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71550"/>
            <a:ext cx="277362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spc="-87">
                <a:solidFill>
                  <a:srgbClr val="696863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OUTUBRO 2026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7617254" y="6065494"/>
            <a:ext cx="1984345" cy="198434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96863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18547" y="-28134"/>
            <a:ext cx="12192000" cy="4845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8"/>
              </a:lnSpc>
            </a:pPr>
          </a:p>
          <a:p>
            <a:pPr algn="l">
              <a:lnSpc>
                <a:spcPts val="7728"/>
              </a:lnSpc>
            </a:pPr>
            <a:r>
              <a:rPr lang="en-US" sz="4800" spc="-168">
                <a:solidFill>
                  <a:srgbClr val="FF914D"/>
                </a:solidFill>
                <a:latin typeface="Raleway"/>
                <a:ea typeface="Raleway"/>
                <a:cs typeface="Raleway"/>
                <a:sym typeface="Raleway"/>
              </a:rPr>
              <a:t>RAFAEL DA SILVA MORAL</a:t>
            </a:r>
          </a:p>
          <a:p>
            <a:pPr algn="l">
              <a:lnSpc>
                <a:spcPts val="7728"/>
              </a:lnSpc>
            </a:pPr>
            <a:r>
              <a:rPr lang="en-US" sz="4800" spc="-168">
                <a:solidFill>
                  <a:srgbClr val="FF914D"/>
                </a:solidFill>
                <a:latin typeface="Raleway"/>
                <a:ea typeface="Raleway"/>
                <a:cs typeface="Raleway"/>
                <a:sym typeface="Raleway"/>
              </a:rPr>
              <a:t>FELIPE H. SCHERER</a:t>
            </a:r>
          </a:p>
          <a:p>
            <a:pPr algn="l">
              <a:lnSpc>
                <a:spcPts val="7728"/>
              </a:lnSpc>
            </a:pPr>
            <a:r>
              <a:rPr lang="en-US" sz="4800" spc="-168">
                <a:solidFill>
                  <a:srgbClr val="FF914D"/>
                </a:solidFill>
                <a:latin typeface="Raleway"/>
                <a:ea typeface="Raleway"/>
                <a:cs typeface="Raleway"/>
                <a:sym typeface="Raleway"/>
              </a:rPr>
              <a:t>EDUARDO DOS SANTOS PAIM</a:t>
            </a:r>
          </a:p>
          <a:p>
            <a:pPr algn="l">
              <a:lnSpc>
                <a:spcPts val="7728"/>
              </a:lnSpc>
            </a:pPr>
            <a:r>
              <a:rPr lang="en-US" sz="4800" spc="-168">
                <a:solidFill>
                  <a:srgbClr val="FF914D"/>
                </a:solidFill>
                <a:latin typeface="Raleway"/>
                <a:ea typeface="Raleway"/>
                <a:cs typeface="Raleway"/>
                <a:sym typeface="Raleway"/>
              </a:rPr>
              <a:t>LUCAS CORREA RODRIGUES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-1118737"/>
            <a:ext cx="3767477" cy="11873084"/>
            <a:chOff x="0" y="0"/>
            <a:chExt cx="860759" cy="27126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0759" cy="2712655"/>
            </a:xfrm>
            <a:custGeom>
              <a:avLst/>
              <a:gdLst/>
              <a:ahLst/>
              <a:cxnLst/>
              <a:rect r="r" b="b" t="t" l="l"/>
              <a:pathLst>
                <a:path h="2712655" w="860759">
                  <a:moveTo>
                    <a:pt x="18494" y="0"/>
                  </a:moveTo>
                  <a:lnTo>
                    <a:pt x="842265" y="0"/>
                  </a:lnTo>
                  <a:cubicBezTo>
                    <a:pt x="852479" y="0"/>
                    <a:pt x="860759" y="8280"/>
                    <a:pt x="860759" y="18494"/>
                  </a:cubicBezTo>
                  <a:lnTo>
                    <a:pt x="860759" y="2694160"/>
                  </a:lnTo>
                  <a:cubicBezTo>
                    <a:pt x="860759" y="2704374"/>
                    <a:pt x="852479" y="2712655"/>
                    <a:pt x="842265" y="2712655"/>
                  </a:cubicBezTo>
                  <a:lnTo>
                    <a:pt x="18494" y="2712655"/>
                  </a:lnTo>
                  <a:cubicBezTo>
                    <a:pt x="8280" y="2712655"/>
                    <a:pt x="0" y="2704374"/>
                    <a:pt x="0" y="2694160"/>
                  </a:cubicBezTo>
                  <a:lnTo>
                    <a:pt x="0" y="18494"/>
                  </a:lnTo>
                  <a:cubicBezTo>
                    <a:pt x="0" y="8280"/>
                    <a:pt x="8280" y="0"/>
                    <a:pt x="18494" y="0"/>
                  </a:cubicBez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60759" cy="2750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-5400000">
            <a:off x="-2031640" y="4470040"/>
            <a:ext cx="8229600" cy="1346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19"/>
              </a:lnSpc>
            </a:pPr>
            <a:r>
              <a:rPr lang="en-US" b="true" sz="11348" spc="-226">
                <a:solidFill>
                  <a:srgbClr val="FFFFFF"/>
                </a:solidFill>
                <a:latin typeface="Raleway Heavy"/>
                <a:ea typeface="Raleway Heavy"/>
                <a:cs typeface="Raleway Heavy"/>
                <a:sym typeface="Raleway Heavy"/>
              </a:rPr>
              <a:t>GRUPO 1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7617254" y="4670775"/>
            <a:ext cx="1984345" cy="198434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96863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75561" y="-1118737"/>
            <a:ext cx="3767477" cy="11873084"/>
            <a:chOff x="0" y="0"/>
            <a:chExt cx="860759" cy="27126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60759" cy="2712655"/>
            </a:xfrm>
            <a:custGeom>
              <a:avLst/>
              <a:gdLst/>
              <a:ahLst/>
              <a:cxnLst/>
              <a:rect r="r" b="b" t="t" l="l"/>
              <a:pathLst>
                <a:path h="2712655" w="860759">
                  <a:moveTo>
                    <a:pt x="18494" y="0"/>
                  </a:moveTo>
                  <a:lnTo>
                    <a:pt x="842265" y="0"/>
                  </a:lnTo>
                  <a:cubicBezTo>
                    <a:pt x="852479" y="0"/>
                    <a:pt x="860759" y="8280"/>
                    <a:pt x="860759" y="18494"/>
                  </a:cubicBezTo>
                  <a:lnTo>
                    <a:pt x="860759" y="2694160"/>
                  </a:lnTo>
                  <a:cubicBezTo>
                    <a:pt x="860759" y="2704374"/>
                    <a:pt x="852479" y="2712655"/>
                    <a:pt x="842265" y="2712655"/>
                  </a:cubicBezTo>
                  <a:lnTo>
                    <a:pt x="18494" y="2712655"/>
                  </a:lnTo>
                  <a:cubicBezTo>
                    <a:pt x="8280" y="2712655"/>
                    <a:pt x="0" y="2704374"/>
                    <a:pt x="0" y="2694160"/>
                  </a:cubicBezTo>
                  <a:lnTo>
                    <a:pt x="0" y="18494"/>
                  </a:lnTo>
                  <a:cubicBezTo>
                    <a:pt x="0" y="8280"/>
                    <a:pt x="8280" y="0"/>
                    <a:pt x="18494" y="0"/>
                  </a:cubicBez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60759" cy="2750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617254" y="4670775"/>
            <a:ext cx="1984345" cy="198434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96863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5619750"/>
            <a:ext cx="3619500" cy="1619250"/>
            <a:chOff x="0" y="0"/>
            <a:chExt cx="953284" cy="4264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3284" cy="426469"/>
            </a:xfrm>
            <a:custGeom>
              <a:avLst/>
              <a:gdLst/>
              <a:ahLst/>
              <a:cxnLst/>
              <a:rect r="r" b="b" t="t" l="l"/>
              <a:pathLst>
                <a:path h="426469" w="953284">
                  <a:moveTo>
                    <a:pt x="0" y="0"/>
                  </a:moveTo>
                  <a:lnTo>
                    <a:pt x="953284" y="0"/>
                  </a:lnTo>
                  <a:lnTo>
                    <a:pt x="953284" y="426469"/>
                  </a:lnTo>
                  <a:lnTo>
                    <a:pt x="0" y="426469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953284" cy="502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80"/>
                </a:lnSpc>
              </a:pPr>
              <a:r>
                <a:rPr lang="en-US" b="true" sz="42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Fila virtual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3552825"/>
            <a:ext cx="131445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FF914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Venda de ingressos com alta demanda e estoque limitado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1304925"/>
            <a:ext cx="13144500" cy="1446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54"/>
              </a:lnSpc>
            </a:pPr>
            <a:r>
              <a:rPr lang="en-US" b="true" sz="11348" spc="-226">
                <a:solidFill>
                  <a:srgbClr val="FF914D"/>
                </a:solidFill>
                <a:latin typeface="Raleway Heavy"/>
                <a:ea typeface="Raleway Heavy"/>
                <a:cs typeface="Raleway Heavy"/>
                <a:sym typeface="Raleway Heavy"/>
              </a:rPr>
              <a:t>INTRODUÇÃO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791200" y="5619750"/>
            <a:ext cx="3619500" cy="1619250"/>
            <a:chOff x="0" y="0"/>
            <a:chExt cx="953284" cy="42646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3284" cy="426469"/>
            </a:xfrm>
            <a:custGeom>
              <a:avLst/>
              <a:gdLst/>
              <a:ahLst/>
              <a:cxnLst/>
              <a:rect r="r" b="b" t="t" l="l"/>
              <a:pathLst>
                <a:path h="426469" w="953284">
                  <a:moveTo>
                    <a:pt x="0" y="0"/>
                  </a:moveTo>
                  <a:lnTo>
                    <a:pt x="953284" y="0"/>
                  </a:lnTo>
                  <a:lnTo>
                    <a:pt x="953284" y="426469"/>
                  </a:lnTo>
                  <a:lnTo>
                    <a:pt x="0" y="426469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953284" cy="502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80"/>
                </a:lnSpc>
              </a:pPr>
              <a:r>
                <a:rPr lang="en-US" b="true" sz="42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Compra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553700" y="5619750"/>
            <a:ext cx="3619500" cy="1619250"/>
            <a:chOff x="0" y="0"/>
            <a:chExt cx="953284" cy="4264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53284" cy="426469"/>
            </a:xfrm>
            <a:custGeom>
              <a:avLst/>
              <a:gdLst/>
              <a:ahLst/>
              <a:cxnLst/>
              <a:rect r="r" b="b" t="t" l="l"/>
              <a:pathLst>
                <a:path h="426469" w="953284">
                  <a:moveTo>
                    <a:pt x="0" y="0"/>
                  </a:moveTo>
                  <a:lnTo>
                    <a:pt x="953284" y="0"/>
                  </a:lnTo>
                  <a:lnTo>
                    <a:pt x="953284" y="426469"/>
                  </a:lnTo>
                  <a:lnTo>
                    <a:pt x="0" y="426469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76200"/>
              <a:ext cx="953284" cy="502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80"/>
                </a:lnSpc>
              </a:pPr>
              <a:r>
                <a:rPr lang="en-US" b="true" sz="42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Ingresso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4762500" y="6429375"/>
            <a:ext cx="914400" cy="0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0" id="20"/>
          <p:cNvSpPr/>
          <p:nvPr/>
        </p:nvSpPr>
        <p:spPr>
          <a:xfrm>
            <a:off x="9525000" y="6429375"/>
            <a:ext cx="914400" cy="0"/>
          </a:xfrm>
          <a:prstGeom prst="line">
            <a:avLst/>
          </a:prstGeom>
          <a:ln cap="flat" w="952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75561" y="-1118737"/>
            <a:ext cx="3767477" cy="11873084"/>
            <a:chOff x="0" y="0"/>
            <a:chExt cx="860759" cy="27126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60759" cy="2712655"/>
            </a:xfrm>
            <a:custGeom>
              <a:avLst/>
              <a:gdLst/>
              <a:ahLst/>
              <a:cxnLst/>
              <a:rect r="r" b="b" t="t" l="l"/>
              <a:pathLst>
                <a:path h="2712655" w="860759">
                  <a:moveTo>
                    <a:pt x="18494" y="0"/>
                  </a:moveTo>
                  <a:lnTo>
                    <a:pt x="842265" y="0"/>
                  </a:lnTo>
                  <a:cubicBezTo>
                    <a:pt x="852479" y="0"/>
                    <a:pt x="860759" y="8280"/>
                    <a:pt x="860759" y="18494"/>
                  </a:cubicBezTo>
                  <a:lnTo>
                    <a:pt x="860759" y="2694160"/>
                  </a:lnTo>
                  <a:cubicBezTo>
                    <a:pt x="860759" y="2704374"/>
                    <a:pt x="852479" y="2712655"/>
                    <a:pt x="842265" y="2712655"/>
                  </a:cubicBezTo>
                  <a:lnTo>
                    <a:pt x="18494" y="2712655"/>
                  </a:lnTo>
                  <a:cubicBezTo>
                    <a:pt x="8280" y="2712655"/>
                    <a:pt x="0" y="2704374"/>
                    <a:pt x="0" y="2694160"/>
                  </a:cubicBezTo>
                  <a:lnTo>
                    <a:pt x="0" y="18494"/>
                  </a:lnTo>
                  <a:cubicBezTo>
                    <a:pt x="0" y="8280"/>
                    <a:pt x="8280" y="0"/>
                    <a:pt x="18494" y="0"/>
                  </a:cubicBez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60759" cy="2750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617254" y="4670775"/>
            <a:ext cx="1984345" cy="198434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96863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304925"/>
            <a:ext cx="13144500" cy="1446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54"/>
              </a:lnSpc>
            </a:pPr>
            <a:r>
              <a:rPr lang="en-US" b="true" sz="11348" spc="-226">
                <a:solidFill>
                  <a:srgbClr val="FF914D"/>
                </a:solidFill>
                <a:latin typeface="Raleway Heavy"/>
                <a:ea typeface="Raleway Heavy"/>
                <a:cs typeface="Raleway Heavy"/>
                <a:sym typeface="Raleway Heavy"/>
              </a:rPr>
              <a:t>JUSTIFICATIVA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4286250"/>
            <a:ext cx="3619500" cy="2952750"/>
            <a:chOff x="0" y="0"/>
            <a:chExt cx="953284" cy="7776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53284" cy="777679"/>
            </a:xfrm>
            <a:custGeom>
              <a:avLst/>
              <a:gdLst/>
              <a:ahLst/>
              <a:cxnLst/>
              <a:rect r="r" b="b" t="t" l="l"/>
              <a:pathLst>
                <a:path h="777679" w="953284">
                  <a:moveTo>
                    <a:pt x="0" y="0"/>
                  </a:moveTo>
                  <a:lnTo>
                    <a:pt x="953284" y="0"/>
                  </a:lnTo>
                  <a:lnTo>
                    <a:pt x="953284" y="777679"/>
                  </a:lnTo>
                  <a:lnTo>
                    <a:pt x="0" y="777679"/>
                  </a:lnTo>
                  <a:close/>
                </a:path>
              </a:pathLst>
            </a:custGeom>
          </p:spPr>
        </p:sp>
        <p:sp>
          <p:nvSpPr>
            <p:cNvPr name="TextBox 11" id="11"/>
            <p:cNvSpPr txBox="true"/>
            <p:nvPr/>
          </p:nvSpPr>
          <p:spPr>
            <a:xfrm>
              <a:off x="0" y="-76200"/>
              <a:ext cx="953284" cy="853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80"/>
                </a:lnSpc>
              </a:pPr>
              <a:r>
                <a:rPr lang="en-US" sz="4200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Comprador</a:t>
              </a:r>
            </a:p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Ingresso para</a:t>
              </a:r>
            </a:p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uso próprio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791200" y="4286250"/>
            <a:ext cx="3619500" cy="2952750"/>
            <a:chOff x="0" y="0"/>
            <a:chExt cx="953284" cy="7776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3284" cy="777679"/>
            </a:xfrm>
            <a:custGeom>
              <a:avLst/>
              <a:gdLst/>
              <a:ahLst/>
              <a:cxnLst/>
              <a:rect r="r" b="b" t="t" l="l"/>
              <a:pathLst>
                <a:path h="777679" w="953284">
                  <a:moveTo>
                    <a:pt x="0" y="0"/>
                  </a:moveTo>
                  <a:lnTo>
                    <a:pt x="953284" y="0"/>
                  </a:lnTo>
                  <a:lnTo>
                    <a:pt x="953284" y="777679"/>
                  </a:lnTo>
                  <a:lnTo>
                    <a:pt x="0" y="777679"/>
                  </a:lnTo>
                  <a:close/>
                </a:path>
              </a:pathLst>
            </a:custGeom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953284" cy="853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80"/>
                </a:lnSpc>
              </a:pPr>
              <a:r>
                <a:rPr lang="en-US" sz="4200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Revendedor</a:t>
              </a:r>
            </a:p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Concentrar ingressos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553700" y="4286250"/>
            <a:ext cx="3619500" cy="2952750"/>
            <a:chOff x="0" y="0"/>
            <a:chExt cx="953284" cy="77767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3284" cy="777679"/>
            </a:xfrm>
            <a:custGeom>
              <a:avLst/>
              <a:gdLst/>
              <a:ahLst/>
              <a:cxnLst/>
              <a:rect r="r" b="b" t="t" l="l"/>
              <a:pathLst>
                <a:path h="777679" w="953284">
                  <a:moveTo>
                    <a:pt x="0" y="0"/>
                  </a:moveTo>
                  <a:lnTo>
                    <a:pt x="953284" y="0"/>
                  </a:lnTo>
                  <a:lnTo>
                    <a:pt x="953284" y="777679"/>
                  </a:lnTo>
                  <a:lnTo>
                    <a:pt x="0" y="777679"/>
                  </a:lnTo>
                  <a:close/>
                </a:path>
              </a:pathLst>
            </a:custGeom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953284" cy="853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80"/>
                </a:lnSpc>
              </a:pPr>
              <a:r>
                <a:rPr lang="en-US" sz="4200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Plataforma</a:t>
              </a:r>
            </a:p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Acesso justo</a:t>
              </a:r>
            </a:p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 disponível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5219700" y="4572000"/>
            <a:ext cx="0" cy="2476500"/>
          </a:xfrm>
          <a:prstGeom prst="line">
            <a:avLst/>
          </a:prstGeom>
          <a:ln cap="flat" w="38100">
            <a:solidFill>
              <a:srgbClr val="FF914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9982200" y="4572000"/>
            <a:ext cx="0" cy="2476500"/>
          </a:xfrm>
          <a:prstGeom prst="line">
            <a:avLst/>
          </a:prstGeom>
          <a:ln cap="flat" w="38100">
            <a:solidFill>
              <a:srgbClr val="FF914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-5400000">
            <a:off x="-2051792" y="4404466"/>
            <a:ext cx="8229600" cy="1478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64"/>
              </a:lnSpc>
            </a:pPr>
            <a:r>
              <a:rPr lang="en-US" b="true" sz="11682" spc="-233">
                <a:solidFill>
                  <a:srgbClr val="FF914D"/>
                </a:solidFill>
                <a:latin typeface="Raleway Heavy"/>
                <a:ea typeface="Raleway Heavy"/>
                <a:cs typeface="Raleway Heavy"/>
                <a:sym typeface="Raleway Heavy"/>
              </a:rPr>
              <a:t>OBJETIVOS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0" y="-1118737"/>
            <a:ext cx="9999039" cy="11873084"/>
            <a:chOff x="0" y="0"/>
            <a:chExt cx="2284490" cy="27126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4490" cy="2712655"/>
            </a:xfrm>
            <a:custGeom>
              <a:avLst/>
              <a:gdLst/>
              <a:ahLst/>
              <a:cxnLst/>
              <a:rect r="r" b="b" t="t" l="l"/>
              <a:pathLst>
                <a:path h="2712655" w="2284490">
                  <a:moveTo>
                    <a:pt x="6968" y="0"/>
                  </a:moveTo>
                  <a:lnTo>
                    <a:pt x="2277521" y="0"/>
                  </a:lnTo>
                  <a:cubicBezTo>
                    <a:pt x="2279370" y="0"/>
                    <a:pt x="2281142" y="734"/>
                    <a:pt x="2282449" y="2041"/>
                  </a:cubicBezTo>
                  <a:cubicBezTo>
                    <a:pt x="2283756" y="3348"/>
                    <a:pt x="2284490" y="5120"/>
                    <a:pt x="2284490" y="6968"/>
                  </a:cubicBezTo>
                  <a:lnTo>
                    <a:pt x="2284490" y="2705686"/>
                  </a:lnTo>
                  <a:cubicBezTo>
                    <a:pt x="2284490" y="2709535"/>
                    <a:pt x="2281370" y="2712655"/>
                    <a:pt x="2277521" y="2712655"/>
                  </a:cubicBezTo>
                  <a:lnTo>
                    <a:pt x="6968" y="2712655"/>
                  </a:lnTo>
                  <a:cubicBezTo>
                    <a:pt x="5120" y="2712655"/>
                    <a:pt x="3348" y="2711921"/>
                    <a:pt x="2041" y="2710614"/>
                  </a:cubicBezTo>
                  <a:cubicBezTo>
                    <a:pt x="734" y="2709307"/>
                    <a:pt x="0" y="2707534"/>
                    <a:pt x="0" y="2705686"/>
                  </a:cubicBezTo>
                  <a:lnTo>
                    <a:pt x="0" y="6968"/>
                  </a:lnTo>
                  <a:cubicBezTo>
                    <a:pt x="0" y="3120"/>
                    <a:pt x="3120" y="0"/>
                    <a:pt x="6968" y="0"/>
                  </a:cubicBez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84490" cy="2750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776508" y="4022680"/>
            <a:ext cx="8000436" cy="2427674"/>
            <a:chOff x="0" y="0"/>
            <a:chExt cx="2107111" cy="6393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7111" cy="639387"/>
            </a:xfrm>
            <a:custGeom>
              <a:avLst/>
              <a:gdLst/>
              <a:ahLst/>
              <a:cxnLst/>
              <a:rect r="r" b="b" t="t" l="l"/>
              <a:pathLst>
                <a:path h="639387" w="2107111">
                  <a:moveTo>
                    <a:pt x="0" y="0"/>
                  </a:moveTo>
                  <a:lnTo>
                    <a:pt x="2107111" y="0"/>
                  </a:lnTo>
                  <a:lnTo>
                    <a:pt x="2107111" y="639387"/>
                  </a:lnTo>
                  <a:lnTo>
                    <a:pt x="0" y="63938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07111" cy="677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776508" y="6830626"/>
            <a:ext cx="8000436" cy="2427674"/>
            <a:chOff x="0" y="0"/>
            <a:chExt cx="2107111" cy="63938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7111" cy="639387"/>
            </a:xfrm>
            <a:custGeom>
              <a:avLst/>
              <a:gdLst/>
              <a:ahLst/>
              <a:cxnLst/>
              <a:rect r="r" b="b" t="t" l="l"/>
              <a:pathLst>
                <a:path h="639387" w="2107111">
                  <a:moveTo>
                    <a:pt x="0" y="0"/>
                  </a:moveTo>
                  <a:lnTo>
                    <a:pt x="2107111" y="0"/>
                  </a:lnTo>
                  <a:lnTo>
                    <a:pt x="2107111" y="639387"/>
                  </a:lnTo>
                  <a:lnTo>
                    <a:pt x="0" y="63938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107111" cy="6774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143519" y="6830626"/>
            <a:ext cx="8000436" cy="1565044"/>
            <a:chOff x="0" y="0"/>
            <a:chExt cx="2107111" cy="41219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07111" cy="412193"/>
            </a:xfrm>
            <a:custGeom>
              <a:avLst/>
              <a:gdLst/>
              <a:ahLst/>
              <a:cxnLst/>
              <a:rect r="r" b="b" t="t" l="l"/>
              <a:pathLst>
                <a:path h="412193" w="2107111">
                  <a:moveTo>
                    <a:pt x="0" y="0"/>
                  </a:moveTo>
                  <a:lnTo>
                    <a:pt x="2107111" y="0"/>
                  </a:lnTo>
                  <a:lnTo>
                    <a:pt x="2107111" y="412193"/>
                  </a:lnTo>
                  <a:lnTo>
                    <a:pt x="0" y="41219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07111" cy="450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143519" y="4022680"/>
            <a:ext cx="8000436" cy="1565044"/>
            <a:chOff x="0" y="0"/>
            <a:chExt cx="2107111" cy="41219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07111" cy="412193"/>
            </a:xfrm>
            <a:custGeom>
              <a:avLst/>
              <a:gdLst/>
              <a:ahLst/>
              <a:cxnLst/>
              <a:rect r="r" b="b" t="t" l="l"/>
              <a:pathLst>
                <a:path h="412193" w="2107111">
                  <a:moveTo>
                    <a:pt x="0" y="0"/>
                  </a:moveTo>
                  <a:lnTo>
                    <a:pt x="2107111" y="0"/>
                  </a:lnTo>
                  <a:lnTo>
                    <a:pt x="2107111" y="412193"/>
                  </a:lnTo>
                  <a:lnTo>
                    <a:pt x="0" y="41219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07111" cy="4502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172851" y="4525317"/>
            <a:ext cx="7115094" cy="165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FF914D"/>
                </a:solidFill>
                <a:latin typeface="Open Sans"/>
                <a:ea typeface="Open Sans"/>
                <a:cs typeface="Open Sans"/>
                <a:sym typeface="Open Sans"/>
              </a:rPr>
              <a:t>Entender </a:t>
            </a:r>
            <a:r>
              <a:rPr lang="en-US" sz="4800">
                <a:solidFill>
                  <a:srgbClr val="FF914D"/>
                </a:solidFill>
                <a:latin typeface="Open Sans"/>
                <a:ea typeface="Open Sans"/>
                <a:cs typeface="Open Sans"/>
                <a:sym typeface="Open Sans"/>
              </a:rPr>
              <a:t>decisões</a:t>
            </a:r>
          </a:p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FF914D"/>
                </a:solidFill>
                <a:latin typeface="Open Sans"/>
                <a:ea typeface="Open Sans"/>
                <a:cs typeface="Open Sans"/>
                <a:sym typeface="Open Sans"/>
              </a:rPr>
              <a:t>e adaptações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72851" y="7333263"/>
            <a:ext cx="7115094" cy="165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FF914D"/>
                </a:solidFill>
                <a:latin typeface="Open Sans"/>
                <a:ea typeface="Open Sans"/>
                <a:cs typeface="Open Sans"/>
                <a:sym typeface="Open Sans"/>
              </a:rPr>
              <a:t>Aval</a:t>
            </a:r>
            <a:r>
              <a:rPr lang="en-US" sz="4800">
                <a:solidFill>
                  <a:srgbClr val="FF914D"/>
                </a:solidFill>
                <a:latin typeface="Open Sans"/>
                <a:ea typeface="Open Sans"/>
                <a:cs typeface="Open Sans"/>
                <a:sym typeface="Open Sans"/>
              </a:rPr>
              <a:t>iar ameaças,</a:t>
            </a:r>
          </a:p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FF914D"/>
                </a:solidFill>
                <a:latin typeface="Open Sans"/>
                <a:ea typeface="Open Sans"/>
                <a:cs typeface="Open Sans"/>
                <a:sym typeface="Open Sans"/>
              </a:rPr>
              <a:t>defe</a:t>
            </a:r>
            <a:r>
              <a:rPr lang="en-US" sz="4800">
                <a:solidFill>
                  <a:srgbClr val="FF914D"/>
                </a:solidFill>
                <a:latin typeface="Open Sans"/>
                <a:ea typeface="Open Sans"/>
                <a:cs typeface="Open Sans"/>
                <a:sym typeface="Open Sans"/>
              </a:rPr>
              <a:t>sas e riscos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627353" y="4003146"/>
            <a:ext cx="1248629" cy="1320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048"/>
              </a:lnSpc>
            </a:pPr>
            <a:r>
              <a:rPr lang="en-US" b="true" sz="9390" spc="-187">
                <a:solidFill>
                  <a:srgbClr val="FF914D"/>
                </a:solidFill>
                <a:latin typeface="Raleway Heavy"/>
                <a:ea typeface="Raleway Heavy"/>
                <a:cs typeface="Raleway Heavy"/>
                <a:sym typeface="Raleway Heavy"/>
              </a:rPr>
              <a:t>1.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627353" y="7005252"/>
            <a:ext cx="1248629" cy="1320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048"/>
              </a:lnSpc>
            </a:pPr>
            <a:r>
              <a:rPr lang="en-US" b="true" sz="9390" spc="-187">
                <a:solidFill>
                  <a:srgbClr val="FF914D"/>
                </a:solidFill>
                <a:latin typeface="Raleway Heavy"/>
                <a:ea typeface="Raleway Heavy"/>
                <a:cs typeface="Raleway Heavy"/>
                <a:sym typeface="Raleway Heavy"/>
              </a:rPr>
              <a:t>2.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73350" y="-1114425"/>
            <a:ext cx="3771900" cy="11868150"/>
            <a:chOff x="0" y="0"/>
            <a:chExt cx="5029200" cy="15824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29200" cy="15824200"/>
            </a:xfrm>
            <a:custGeom>
              <a:avLst/>
              <a:gdLst/>
              <a:ahLst/>
              <a:cxnLst/>
              <a:rect r="r" b="b" t="t" l="l"/>
              <a:pathLst>
                <a:path h="1582420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5824200"/>
                  </a:lnTo>
                  <a:lnTo>
                    <a:pt x="0" y="15824200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29200" cy="1586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621250" y="4667250"/>
            <a:ext cx="1981200" cy="1981200"/>
            <a:chOff x="0" y="0"/>
            <a:chExt cx="2641600" cy="2641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41600" cy="2641600"/>
            </a:xfrm>
            <a:custGeom>
              <a:avLst/>
              <a:gdLst/>
              <a:ahLst/>
              <a:cxnLst/>
              <a:rect r="r" b="b" t="t" l="l"/>
              <a:pathLst>
                <a:path h="2641600" w="2641600">
                  <a:moveTo>
                    <a:pt x="1320800" y="0"/>
                  </a:moveTo>
                  <a:cubicBezTo>
                    <a:pt x="591342" y="0"/>
                    <a:pt x="0" y="591342"/>
                    <a:pt x="0" y="1320800"/>
                  </a:cubicBezTo>
                  <a:cubicBezTo>
                    <a:pt x="0" y="2050258"/>
                    <a:pt x="591342" y="2641600"/>
                    <a:pt x="1320800" y="2641600"/>
                  </a:cubicBezTo>
                  <a:cubicBezTo>
                    <a:pt x="2050258" y="2641600"/>
                    <a:pt x="2641600" y="2050258"/>
                    <a:pt x="2641600" y="1320800"/>
                  </a:cubicBezTo>
                  <a:cubicBezTo>
                    <a:pt x="2641600" y="591342"/>
                    <a:pt x="2050258" y="0"/>
                    <a:pt x="1320800" y="0"/>
                  </a:cubicBezTo>
                  <a:close/>
                </a:path>
              </a:pathLst>
            </a:custGeom>
            <a:solidFill>
              <a:srgbClr val="69686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641600" cy="267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334000" y="5429250"/>
            <a:ext cx="4286250" cy="1524000"/>
            <a:chOff x="0" y="0"/>
            <a:chExt cx="5715000" cy="203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15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715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581650" y="4191000"/>
            <a:ext cx="38100" cy="3048000"/>
            <a:chOff x="0" y="0"/>
            <a:chExt cx="50800" cy="4064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800" cy="4064000"/>
            </a:xfrm>
            <a:custGeom>
              <a:avLst/>
              <a:gdLst/>
              <a:ahLst/>
              <a:cxnLst/>
              <a:rect r="r" b="b" t="t" l="l"/>
              <a:pathLst>
                <a:path h="4064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0800" cy="410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810750" y="5429250"/>
            <a:ext cx="4286250" cy="1524000"/>
            <a:chOff x="0" y="0"/>
            <a:chExt cx="5715000" cy="2032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15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715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344150" y="4191000"/>
            <a:ext cx="38100" cy="3048000"/>
            <a:chOff x="0" y="0"/>
            <a:chExt cx="50800" cy="4064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800" cy="4064000"/>
            </a:xfrm>
            <a:custGeom>
              <a:avLst/>
              <a:gdLst/>
              <a:ahLst/>
              <a:cxnLst/>
              <a:rect r="r" b="b" t="t" l="l"/>
              <a:pathLst>
                <a:path h="4064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4064000"/>
                  </a:lnTo>
                  <a:lnTo>
                    <a:pt x="0" y="4064000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0800" cy="410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334000" y="7143750"/>
            <a:ext cx="4286250" cy="1524000"/>
            <a:chOff x="0" y="0"/>
            <a:chExt cx="5715000" cy="2032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15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715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8700" y="7810500"/>
            <a:ext cx="13906500" cy="1428750"/>
            <a:chOff x="0" y="0"/>
            <a:chExt cx="18542000" cy="1905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542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8542000">
                  <a:moveTo>
                    <a:pt x="0" y="0"/>
                  </a:moveTo>
                  <a:lnTo>
                    <a:pt x="18542000" y="0"/>
                  </a:lnTo>
                  <a:lnTo>
                    <a:pt x="18542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8542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810750" y="7143750"/>
            <a:ext cx="4286250" cy="1524000"/>
            <a:chOff x="0" y="0"/>
            <a:chExt cx="5715000" cy="2032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715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715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28700" y="1238250"/>
            <a:ext cx="13906500" cy="126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67"/>
              </a:lnSpc>
            </a:pPr>
            <a:r>
              <a:rPr lang="en-US" sz="9750" b="true">
                <a:solidFill>
                  <a:srgbClr val="FF914D"/>
                </a:solidFill>
                <a:latin typeface="Arimo Bold"/>
                <a:ea typeface="Arimo Bold"/>
                <a:cs typeface="Arimo Bold"/>
                <a:sym typeface="Arimo Bold"/>
              </a:rPr>
              <a:t>ANÁLISE DO JOGO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1238250"/>
            <a:ext cx="13906500" cy="1267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67"/>
              </a:lnSpc>
            </a:pPr>
            <a:r>
              <a:rPr lang="en-US" sz="9750" b="true">
                <a:solidFill>
                  <a:srgbClr val="FF914D"/>
                </a:solidFill>
                <a:latin typeface="Arimo Bold"/>
                <a:ea typeface="Arimo Bold"/>
                <a:cs typeface="Arimo Bold"/>
                <a:sym typeface="Arimo Bold"/>
              </a:rPr>
              <a:t>MODELO ESTÁTICO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2762250"/>
            <a:ext cx="13906500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FF914D"/>
                </a:solidFill>
                <a:latin typeface="Arimo Bold"/>
                <a:ea typeface="Arimo Bold"/>
                <a:cs typeface="Arimo Bold"/>
                <a:sym typeface="Arimo Bold"/>
              </a:rPr>
              <a:t>A melhor escolha de cada jogador depende da escolha do outro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2762250"/>
            <a:ext cx="13906500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FF914D"/>
                </a:solidFill>
                <a:latin typeface="Arimo Bold"/>
                <a:ea typeface="Arimo Bold"/>
                <a:cs typeface="Arimo Bold"/>
                <a:sym typeface="Arimo Bold"/>
              </a:rPr>
              <a:t>Jogo 2×2: Scalper × Plataforma na abertura das vendas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8700" y="4105275"/>
            <a:ext cx="428625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Melhores respostas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4419600"/>
            <a:ext cx="409575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FF914D"/>
                </a:solidFill>
                <a:latin typeface="Arimo Bold"/>
                <a:ea typeface="Arimo Bold"/>
                <a:cs typeface="Arimo Bold"/>
                <a:sym typeface="Arimo Bold"/>
              </a:rPr>
              <a:t>Par: (Scalper, Plataforma)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8700" y="4800600"/>
            <a:ext cx="4286250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775" indent="-242888" lvl="1">
              <a:lnSpc>
                <a:spcPts val="3149"/>
              </a:lnSpc>
              <a:buFont typeface="Arial"/>
              <a:buChar char="•"/>
            </a:pPr>
            <a:r>
              <a:rPr lang="en-US" sz="22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Controle básico → o scalper automatiza.</a:t>
            </a:r>
          </a:p>
          <a:p>
            <a:pPr algn="l" marL="485775" indent="-242888" lvl="1">
              <a:lnSpc>
                <a:spcPts val="3149"/>
              </a:lnSpc>
              <a:buFont typeface="Arial"/>
              <a:buChar char="•"/>
            </a:pPr>
            <a:r>
              <a:rPr lang="en-US" sz="22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Controle reforçado → o scalper compra normal.</a:t>
            </a:r>
          </a:p>
          <a:p>
            <a:pPr algn="l" marL="485775" indent="-242888" lvl="1">
              <a:lnSpc>
                <a:spcPts val="3149"/>
              </a:lnSpc>
              <a:buFont typeface="Arial"/>
              <a:buChar char="•"/>
            </a:pPr>
            <a:r>
              <a:rPr lang="en-US" sz="22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 plataforma só quer reforçar se houver ataque.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334000" y="4219575"/>
            <a:ext cx="4286250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sz="28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B1 · Controle básico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886450" y="4105275"/>
            <a:ext cx="41910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Sem equilíbrio puro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334000" y="4762500"/>
            <a:ext cx="428625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696863"/>
                </a:solidFill>
                <a:latin typeface="Arimo"/>
                <a:ea typeface="Arimo"/>
                <a:cs typeface="Arimo"/>
                <a:sym typeface="Arimo"/>
              </a:rPr>
              <a:t>fila + limite por CPF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886450" y="4800600"/>
            <a:ext cx="4191000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775" indent="-242888" lvl="1">
              <a:lnSpc>
                <a:spcPts val="3149"/>
              </a:lnSpc>
              <a:buFont typeface="Arial"/>
              <a:buChar char="•"/>
            </a:pPr>
            <a:r>
              <a:rPr lang="en-US" sz="22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Ninguém tem estratégia dominante.</a:t>
            </a:r>
          </a:p>
          <a:p>
            <a:pPr algn="l" marL="485775" indent="-242888" lvl="1">
              <a:lnSpc>
                <a:spcPts val="3149"/>
              </a:lnSpc>
              <a:buFont typeface="Arial"/>
              <a:buChar char="•"/>
            </a:pPr>
            <a:r>
              <a:rPr lang="en-US" sz="22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Em toda célula alguém ganha mudando sozinho: as escolhas giram em ciclo.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810750" y="4219575"/>
            <a:ext cx="4286250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sz="28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B2 · Controle reforçado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648950" y="4105275"/>
            <a:ext cx="428625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Equilíbrio misto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810750" y="4762500"/>
            <a:ext cx="428625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696863"/>
                </a:solidFill>
                <a:latin typeface="Arimo"/>
                <a:ea typeface="Arimo"/>
                <a:cs typeface="Arimo"/>
                <a:sym typeface="Arimo"/>
              </a:rPr>
              <a:t>CAPTCHA, rate limit, detecção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648950" y="4800600"/>
            <a:ext cx="4286250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775" indent="-242888" lvl="1">
              <a:lnSpc>
                <a:spcPts val="3149"/>
              </a:lnSpc>
              <a:buFont typeface="Arial"/>
              <a:buChar char="•"/>
            </a:pPr>
            <a:r>
              <a:rPr lang="en-US" sz="22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Cada lado joga 50% / 50% (valor ilustrativo).</a:t>
            </a:r>
          </a:p>
          <a:p>
            <a:pPr algn="l" marL="485775" indent="-242888" lvl="1">
              <a:lnSpc>
                <a:spcPts val="3149"/>
              </a:lnSpc>
              <a:buFont typeface="Arial"/>
              <a:buChar char="•"/>
            </a:pPr>
            <a:r>
              <a:rPr lang="en-US" sz="22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 plataforma precisa ser imprevisível, e o abuso nunca some.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28700" y="5648325"/>
            <a:ext cx="4095750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A1 · Compra comum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09700" y="8048625"/>
            <a:ext cx="13144500" cy="9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Para o comprador legítimo, nenhum resultado é bom: estoque esgotado ou CAPTCHA, espera e bloqueio por engano.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28700" y="6191250"/>
            <a:ext cx="409575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696863"/>
                </a:solidFill>
                <a:latin typeface="Arimo"/>
                <a:ea typeface="Arimo"/>
                <a:cs typeface="Arimo"/>
                <a:sym typeface="Arimo"/>
              </a:rPr>
              <a:t>1 conta, 1 CPF, manual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28700" y="7362825"/>
            <a:ext cx="4095750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A2 · Automação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28700" y="7905750"/>
            <a:ext cx="409575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696863"/>
                </a:solidFill>
                <a:latin typeface="Arimo"/>
                <a:ea typeface="Arimo"/>
                <a:cs typeface="Arimo"/>
                <a:sym typeface="Arimo"/>
              </a:rPr>
              <a:t>bots + várias contas e CPFs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334000" y="5514975"/>
            <a:ext cx="428625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(2, 3)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810750" y="5514975"/>
            <a:ext cx="428625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(1, 2)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334000" y="7229475"/>
            <a:ext cx="428625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(3, 0)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810750" y="7229475"/>
            <a:ext cx="428625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(0, 1)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28700" y="8991600"/>
            <a:ext cx="139065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696863"/>
                </a:solidFill>
                <a:latin typeface="Arimo"/>
                <a:ea typeface="Arimo"/>
                <a:cs typeface="Arimo"/>
                <a:sym typeface="Arimo"/>
              </a:rPr>
              <a:t>Valores de 0 (pior) a 3 (melhor): ordem de preferência de cada jogador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75561" y="-1118737"/>
            <a:ext cx="3767477" cy="11873084"/>
            <a:chOff x="0" y="0"/>
            <a:chExt cx="860759" cy="27126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60759" cy="2712655"/>
            </a:xfrm>
            <a:custGeom>
              <a:avLst/>
              <a:gdLst/>
              <a:ahLst/>
              <a:cxnLst/>
              <a:rect r="r" b="b" t="t" l="l"/>
              <a:pathLst>
                <a:path h="2712655" w="860759">
                  <a:moveTo>
                    <a:pt x="18494" y="0"/>
                  </a:moveTo>
                  <a:lnTo>
                    <a:pt x="842265" y="0"/>
                  </a:lnTo>
                  <a:cubicBezTo>
                    <a:pt x="852479" y="0"/>
                    <a:pt x="860759" y="8280"/>
                    <a:pt x="860759" y="18494"/>
                  </a:cubicBezTo>
                  <a:lnTo>
                    <a:pt x="860759" y="2694160"/>
                  </a:lnTo>
                  <a:cubicBezTo>
                    <a:pt x="860759" y="2704374"/>
                    <a:pt x="852479" y="2712655"/>
                    <a:pt x="842265" y="2712655"/>
                  </a:cubicBezTo>
                  <a:lnTo>
                    <a:pt x="18494" y="2712655"/>
                  </a:lnTo>
                  <a:cubicBezTo>
                    <a:pt x="8280" y="2712655"/>
                    <a:pt x="0" y="2704374"/>
                    <a:pt x="0" y="2694160"/>
                  </a:cubicBezTo>
                  <a:lnTo>
                    <a:pt x="0" y="18494"/>
                  </a:lnTo>
                  <a:cubicBezTo>
                    <a:pt x="0" y="8280"/>
                    <a:pt x="8280" y="0"/>
                    <a:pt x="18494" y="0"/>
                  </a:cubicBez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60759" cy="2750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617254" y="4670775"/>
            <a:ext cx="1984345" cy="198434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96863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4286250"/>
            <a:ext cx="3619500" cy="2952750"/>
            <a:chOff x="0" y="0"/>
            <a:chExt cx="953284" cy="7776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3284" cy="777679"/>
            </a:xfrm>
            <a:custGeom>
              <a:avLst/>
              <a:gdLst/>
              <a:ahLst/>
              <a:cxnLst/>
              <a:rect r="r" b="b" t="t" l="l"/>
              <a:pathLst>
                <a:path h="777679" w="953284">
                  <a:moveTo>
                    <a:pt x="0" y="0"/>
                  </a:moveTo>
                  <a:lnTo>
                    <a:pt x="953284" y="0"/>
                  </a:lnTo>
                  <a:lnTo>
                    <a:pt x="953284" y="777679"/>
                  </a:lnTo>
                  <a:lnTo>
                    <a:pt x="0" y="777679"/>
                  </a:lnTo>
                  <a:close/>
                </a:path>
              </a:pathLst>
            </a:custGeom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953284" cy="844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20"/>
                </a:lnSpc>
              </a:pPr>
              <a:r>
                <a:rPr lang="en-US" sz="3300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Rodada 1</a:t>
              </a:r>
            </a:p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Compra comum</a:t>
              </a:r>
            </a:p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Controle</a:t>
              </a:r>
            </a:p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básico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791200" y="4286250"/>
            <a:ext cx="3619500" cy="2952750"/>
            <a:chOff x="0" y="0"/>
            <a:chExt cx="953284" cy="7776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3284" cy="777679"/>
            </a:xfrm>
            <a:custGeom>
              <a:avLst/>
              <a:gdLst/>
              <a:ahLst/>
              <a:cxnLst/>
              <a:rect r="r" b="b" t="t" l="l"/>
              <a:pathLst>
                <a:path h="777679" w="953284">
                  <a:moveTo>
                    <a:pt x="0" y="0"/>
                  </a:moveTo>
                  <a:lnTo>
                    <a:pt x="953284" y="0"/>
                  </a:lnTo>
                  <a:lnTo>
                    <a:pt x="953284" y="777679"/>
                  </a:lnTo>
                  <a:lnTo>
                    <a:pt x="0" y="777679"/>
                  </a:lnTo>
                  <a:close/>
                </a:path>
              </a:pathLst>
            </a:custGeom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953284" cy="844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20"/>
                </a:lnSpc>
              </a:pPr>
              <a:r>
                <a:rPr lang="en-US" sz="3300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Rodada 2</a:t>
              </a:r>
            </a:p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Bots e contas</a:t>
              </a:r>
            </a:p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CAPTCHA</a:t>
              </a:r>
            </a:p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reativo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553700" y="4286250"/>
            <a:ext cx="3619500" cy="2952750"/>
            <a:chOff x="0" y="0"/>
            <a:chExt cx="953284" cy="7776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3284" cy="777679"/>
            </a:xfrm>
            <a:custGeom>
              <a:avLst/>
              <a:gdLst/>
              <a:ahLst/>
              <a:cxnLst/>
              <a:rect r="r" b="b" t="t" l="l"/>
              <a:pathLst>
                <a:path h="777679" w="953284">
                  <a:moveTo>
                    <a:pt x="0" y="0"/>
                  </a:moveTo>
                  <a:lnTo>
                    <a:pt x="953284" y="0"/>
                  </a:lnTo>
                  <a:lnTo>
                    <a:pt x="953284" y="777679"/>
                  </a:lnTo>
                  <a:lnTo>
                    <a:pt x="0" y="777679"/>
                  </a:lnTo>
                  <a:close/>
                </a:path>
              </a:pathLst>
            </a:custGeom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953284" cy="8443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20"/>
                </a:lnSpc>
              </a:pPr>
              <a:r>
                <a:rPr lang="en-US" sz="3300" b="true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Rodada 3</a:t>
              </a:r>
            </a:p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Imita humanos</a:t>
              </a:r>
            </a:p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Checagem</a:t>
              </a:r>
            </a:p>
            <a:p>
              <a:pPr algn="ctr">
                <a:lnSpc>
                  <a:spcPts val="4620"/>
                </a:lnSpc>
              </a:pPr>
              <a:r>
                <a:rPr lang="en-US" sz="330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pós-compra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5219700" y="4572000"/>
            <a:ext cx="0" cy="2476500"/>
          </a:xfrm>
          <a:prstGeom prst="line">
            <a:avLst/>
          </a:prstGeom>
          <a:ln cap="flat" w="38100">
            <a:solidFill>
              <a:srgbClr val="FF914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9982200" y="4572000"/>
            <a:ext cx="0" cy="2476500"/>
          </a:xfrm>
          <a:prstGeom prst="line">
            <a:avLst/>
          </a:prstGeom>
          <a:ln cap="flat" w="38100">
            <a:solidFill>
              <a:srgbClr val="FF914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0" y="6995160"/>
            <a:ext cx="3291840" cy="3291840"/>
            <a:chOff x="0" y="0"/>
            <a:chExt cx="6350000" cy="63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28700" y="1228725"/>
            <a:ext cx="13144500" cy="1018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63"/>
              </a:lnSpc>
            </a:pPr>
            <a:r>
              <a:rPr lang="en-US" b="true" sz="8025" spc="-160">
                <a:solidFill>
                  <a:srgbClr val="FF914D"/>
                </a:solidFill>
                <a:latin typeface="Raleway Heavy"/>
                <a:ea typeface="Raleway Heavy"/>
                <a:cs typeface="Raleway Heavy"/>
                <a:sym typeface="Raleway Heavy"/>
              </a:rPr>
              <a:t>MODELO DINÂMICO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3905250"/>
            <a:ext cx="7239000" cy="4095750"/>
            <a:chOff x="0" y="0"/>
            <a:chExt cx="1653901" cy="935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53901" cy="935760"/>
            </a:xfrm>
            <a:custGeom>
              <a:avLst/>
              <a:gdLst/>
              <a:ahLst/>
              <a:cxnLst/>
              <a:rect r="r" b="b" t="t" l="l"/>
              <a:pathLst>
                <a:path h="935760" w="1653901">
                  <a:moveTo>
                    <a:pt x="9625" y="0"/>
                  </a:moveTo>
                  <a:lnTo>
                    <a:pt x="1644276" y="0"/>
                  </a:lnTo>
                  <a:cubicBezTo>
                    <a:pt x="1649592" y="0"/>
                    <a:pt x="1653901" y="4309"/>
                    <a:pt x="1653901" y="9625"/>
                  </a:cubicBezTo>
                  <a:lnTo>
                    <a:pt x="1653901" y="926135"/>
                  </a:lnTo>
                  <a:cubicBezTo>
                    <a:pt x="1653901" y="928687"/>
                    <a:pt x="1652887" y="931136"/>
                    <a:pt x="1651082" y="932941"/>
                  </a:cubicBezTo>
                  <a:cubicBezTo>
                    <a:pt x="1649277" y="934746"/>
                    <a:pt x="1646829" y="935760"/>
                    <a:pt x="1644276" y="935760"/>
                  </a:cubicBezTo>
                  <a:lnTo>
                    <a:pt x="9625" y="935760"/>
                  </a:lnTo>
                  <a:cubicBezTo>
                    <a:pt x="4309" y="935760"/>
                    <a:pt x="0" y="931451"/>
                    <a:pt x="0" y="926135"/>
                  </a:cubicBezTo>
                  <a:lnTo>
                    <a:pt x="0" y="9625"/>
                  </a:lnTo>
                  <a:cubicBezTo>
                    <a:pt x="0" y="4309"/>
                    <a:pt x="4309" y="0"/>
                    <a:pt x="9625" y="0"/>
                  </a:cubicBezTo>
                  <a:close/>
                </a:path>
              </a:pathLst>
            </a:custGeom>
            <a:solidFill>
              <a:srgbClr val="FF914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53901" cy="973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228725"/>
            <a:ext cx="13144500" cy="1017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b="true" sz="8000" spc="-160">
                <a:solidFill>
                  <a:srgbClr val="FF914D"/>
                </a:solidFill>
                <a:latin typeface="Raleway Heavy"/>
                <a:ea typeface="Raleway Heavy"/>
                <a:cs typeface="Raleway Heavy"/>
                <a:sym typeface="Raleway Heavy"/>
              </a:rPr>
              <a:t>SUPERFÍCIE DE ATAQUE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411550" y="-1118737"/>
            <a:ext cx="5731489" cy="3560468"/>
            <a:chOff x="0" y="0"/>
            <a:chExt cx="1309479" cy="8134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09479" cy="813463"/>
            </a:xfrm>
            <a:custGeom>
              <a:avLst/>
              <a:gdLst/>
              <a:ahLst/>
              <a:cxnLst/>
              <a:rect r="r" b="b" t="t" l="l"/>
              <a:pathLst>
                <a:path h="813463" w="1309479">
                  <a:moveTo>
                    <a:pt x="12157" y="0"/>
                  </a:moveTo>
                  <a:lnTo>
                    <a:pt x="1297322" y="0"/>
                  </a:lnTo>
                  <a:cubicBezTo>
                    <a:pt x="1300546" y="0"/>
                    <a:pt x="1303638" y="1281"/>
                    <a:pt x="1305918" y="3561"/>
                  </a:cubicBezTo>
                  <a:cubicBezTo>
                    <a:pt x="1308198" y="5841"/>
                    <a:pt x="1309479" y="8933"/>
                    <a:pt x="1309479" y="12157"/>
                  </a:cubicBezTo>
                  <a:lnTo>
                    <a:pt x="1309479" y="801307"/>
                  </a:lnTo>
                  <a:cubicBezTo>
                    <a:pt x="1309479" y="808021"/>
                    <a:pt x="1304036" y="813463"/>
                    <a:pt x="1297322" y="813463"/>
                  </a:cubicBezTo>
                  <a:lnTo>
                    <a:pt x="12157" y="813463"/>
                  </a:lnTo>
                  <a:cubicBezTo>
                    <a:pt x="5443" y="813463"/>
                    <a:pt x="0" y="808021"/>
                    <a:pt x="0" y="801307"/>
                  </a:cubicBezTo>
                  <a:lnTo>
                    <a:pt x="0" y="12157"/>
                  </a:lnTo>
                  <a:cubicBezTo>
                    <a:pt x="0" y="5443"/>
                    <a:pt x="5443" y="0"/>
                    <a:pt x="12157" y="0"/>
                  </a:cubicBez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09479" cy="851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72600" y="3905250"/>
            <a:ext cx="7239000" cy="4095750"/>
            <a:chOff x="0" y="0"/>
            <a:chExt cx="1653901" cy="9357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53901" cy="935760"/>
            </a:xfrm>
            <a:custGeom>
              <a:avLst/>
              <a:gdLst/>
              <a:ahLst/>
              <a:cxnLst/>
              <a:rect r="r" b="b" t="t" l="l"/>
              <a:pathLst>
                <a:path h="935760" w="1653901">
                  <a:moveTo>
                    <a:pt x="9625" y="0"/>
                  </a:moveTo>
                  <a:lnTo>
                    <a:pt x="1644276" y="0"/>
                  </a:lnTo>
                  <a:cubicBezTo>
                    <a:pt x="1649592" y="0"/>
                    <a:pt x="1653901" y="4309"/>
                    <a:pt x="1653901" y="9625"/>
                  </a:cubicBezTo>
                  <a:lnTo>
                    <a:pt x="1653901" y="926135"/>
                  </a:lnTo>
                  <a:cubicBezTo>
                    <a:pt x="1653901" y="928687"/>
                    <a:pt x="1652887" y="931136"/>
                    <a:pt x="1651082" y="932941"/>
                  </a:cubicBezTo>
                  <a:cubicBezTo>
                    <a:pt x="1649277" y="934746"/>
                    <a:pt x="1646829" y="935760"/>
                    <a:pt x="1644276" y="935760"/>
                  </a:cubicBezTo>
                  <a:lnTo>
                    <a:pt x="9625" y="935760"/>
                  </a:lnTo>
                  <a:cubicBezTo>
                    <a:pt x="4309" y="935760"/>
                    <a:pt x="0" y="931451"/>
                    <a:pt x="0" y="926135"/>
                  </a:cubicBezTo>
                  <a:lnTo>
                    <a:pt x="0" y="9625"/>
                  </a:lnTo>
                  <a:cubicBezTo>
                    <a:pt x="0" y="4309"/>
                    <a:pt x="4309" y="0"/>
                    <a:pt x="9625" y="0"/>
                  </a:cubicBezTo>
                  <a:close/>
                </a:path>
              </a:pathLst>
            </a:custGeom>
            <a:solidFill>
              <a:srgbClr val="FF914D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53901" cy="973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38300" y="4314825"/>
            <a:ext cx="6477000" cy="380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E1 FILA E REQUISIÇÕES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Repetição de pedidos</a:t>
            </a: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E2 CONTA E CPF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Identidades múltiplas</a:t>
            </a:r>
          </a:p>
          <a:p>
            <a:pPr algn="l">
              <a:lnSpc>
                <a:spcPts val="504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753600" y="4314825"/>
            <a:ext cx="6477000" cy="3166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E3 CAPTCHA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Bots imitam pessoas</a:t>
            </a: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E4 RESERVA E ESTOQUE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Retenção de ingressos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838575"/>
            <a:ext cx="7239000" cy="508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A1  IDENTIDADES MÚLTIPLAS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Conc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entração do estoque</a:t>
            </a: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A2  AUTOMAÇÃO NA FILA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Espera e indisponibilidade</a:t>
            </a: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A3  CONTORNO DE CAPTCHA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Compras indevidas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228725"/>
            <a:ext cx="13144500" cy="1017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b="true" sz="8000" spc="-160">
                <a:solidFill>
                  <a:srgbClr val="FF914D"/>
                </a:solidFill>
                <a:latin typeface="Raleway Heavy"/>
                <a:ea typeface="Raleway Heavy"/>
                <a:cs typeface="Raleway Heavy"/>
                <a:sym typeface="Raleway Heavy"/>
              </a:rPr>
              <a:t>AMEAÇAS E RISCOS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411550" y="-1118737"/>
            <a:ext cx="5731489" cy="3560468"/>
            <a:chOff x="0" y="0"/>
            <a:chExt cx="1309479" cy="8134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09479" cy="813463"/>
            </a:xfrm>
            <a:custGeom>
              <a:avLst/>
              <a:gdLst/>
              <a:ahLst/>
              <a:cxnLst/>
              <a:rect r="r" b="b" t="t" l="l"/>
              <a:pathLst>
                <a:path h="813463" w="1309479">
                  <a:moveTo>
                    <a:pt x="12157" y="0"/>
                  </a:moveTo>
                  <a:lnTo>
                    <a:pt x="1297322" y="0"/>
                  </a:lnTo>
                  <a:cubicBezTo>
                    <a:pt x="1300546" y="0"/>
                    <a:pt x="1303638" y="1281"/>
                    <a:pt x="1305918" y="3561"/>
                  </a:cubicBezTo>
                  <a:cubicBezTo>
                    <a:pt x="1308198" y="5841"/>
                    <a:pt x="1309479" y="8933"/>
                    <a:pt x="1309479" y="12157"/>
                  </a:cubicBezTo>
                  <a:lnTo>
                    <a:pt x="1309479" y="801307"/>
                  </a:lnTo>
                  <a:cubicBezTo>
                    <a:pt x="1309479" y="808021"/>
                    <a:pt x="1304036" y="813463"/>
                    <a:pt x="1297322" y="813463"/>
                  </a:cubicBezTo>
                  <a:lnTo>
                    <a:pt x="12157" y="813463"/>
                  </a:lnTo>
                  <a:cubicBezTo>
                    <a:pt x="5443" y="813463"/>
                    <a:pt x="0" y="808021"/>
                    <a:pt x="0" y="801307"/>
                  </a:cubicBezTo>
                  <a:lnTo>
                    <a:pt x="0" y="12157"/>
                  </a:lnTo>
                  <a:cubicBezTo>
                    <a:pt x="0" y="5443"/>
                    <a:pt x="5443" y="0"/>
                    <a:pt x="12157" y="0"/>
                  </a:cubicBez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09479" cy="851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763000" y="3429000"/>
            <a:ext cx="7239000" cy="6191250"/>
            <a:chOff x="0" y="0"/>
            <a:chExt cx="1653901" cy="14145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53901" cy="1414521"/>
            </a:xfrm>
            <a:custGeom>
              <a:avLst/>
              <a:gdLst/>
              <a:ahLst/>
              <a:cxnLst/>
              <a:rect r="r" b="b" t="t" l="l"/>
              <a:pathLst>
                <a:path h="1414521" w="1653901">
                  <a:moveTo>
                    <a:pt x="9625" y="0"/>
                  </a:moveTo>
                  <a:lnTo>
                    <a:pt x="1644276" y="0"/>
                  </a:lnTo>
                  <a:cubicBezTo>
                    <a:pt x="1649592" y="0"/>
                    <a:pt x="1653901" y="4309"/>
                    <a:pt x="1653901" y="9625"/>
                  </a:cubicBezTo>
                  <a:lnTo>
                    <a:pt x="1653901" y="1404895"/>
                  </a:lnTo>
                  <a:cubicBezTo>
                    <a:pt x="1653901" y="1407448"/>
                    <a:pt x="1652887" y="1409896"/>
                    <a:pt x="1651082" y="1411702"/>
                  </a:cubicBezTo>
                  <a:cubicBezTo>
                    <a:pt x="1649277" y="1413507"/>
                    <a:pt x="1646829" y="1414521"/>
                    <a:pt x="1644276" y="1414521"/>
                  </a:cubicBezTo>
                  <a:lnTo>
                    <a:pt x="9625" y="1414521"/>
                  </a:lnTo>
                  <a:cubicBezTo>
                    <a:pt x="4309" y="1414521"/>
                    <a:pt x="0" y="1410211"/>
                    <a:pt x="0" y="1404895"/>
                  </a:cubicBezTo>
                  <a:lnTo>
                    <a:pt x="0" y="9625"/>
                  </a:lnTo>
                  <a:cubicBezTo>
                    <a:pt x="0" y="4309"/>
                    <a:pt x="4309" y="0"/>
                    <a:pt x="9625" y="0"/>
                  </a:cubicBezTo>
                  <a:close/>
                </a:path>
              </a:pathLst>
            </a:custGeom>
            <a:solidFill>
              <a:srgbClr val="FF914D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653901" cy="1452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144000" y="3838575"/>
            <a:ext cx="6477000" cy="508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PROBABILIDADE × IMPACTO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Escal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de 1 a 3</a:t>
            </a: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A1   3 × 3 = 9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A2   3 × 2 = 6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A3   2 × 3 = 6</a:t>
            </a: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Prioridade: A1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3429000"/>
            <a:ext cx="7239000" cy="4667250"/>
            <a:chOff x="0" y="0"/>
            <a:chExt cx="1653901" cy="10663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53901" cy="1066331"/>
            </a:xfrm>
            <a:custGeom>
              <a:avLst/>
              <a:gdLst/>
              <a:ahLst/>
              <a:cxnLst/>
              <a:rect r="r" b="b" t="t" l="l"/>
              <a:pathLst>
                <a:path h="1066331" w="1653901">
                  <a:moveTo>
                    <a:pt x="9625" y="0"/>
                  </a:moveTo>
                  <a:lnTo>
                    <a:pt x="1644276" y="0"/>
                  </a:lnTo>
                  <a:cubicBezTo>
                    <a:pt x="1649592" y="0"/>
                    <a:pt x="1653901" y="4309"/>
                    <a:pt x="1653901" y="9625"/>
                  </a:cubicBezTo>
                  <a:lnTo>
                    <a:pt x="1653901" y="1056706"/>
                  </a:lnTo>
                  <a:cubicBezTo>
                    <a:pt x="1653901" y="1062022"/>
                    <a:pt x="1649592" y="1066331"/>
                    <a:pt x="1644276" y="1066331"/>
                  </a:cubicBezTo>
                  <a:lnTo>
                    <a:pt x="9625" y="1066331"/>
                  </a:lnTo>
                  <a:cubicBezTo>
                    <a:pt x="4309" y="1066331"/>
                    <a:pt x="0" y="1062022"/>
                    <a:pt x="0" y="1056706"/>
                  </a:cubicBezTo>
                  <a:lnTo>
                    <a:pt x="0" y="9625"/>
                  </a:lnTo>
                  <a:cubicBezTo>
                    <a:pt x="0" y="4309"/>
                    <a:pt x="4309" y="0"/>
                    <a:pt x="9625" y="0"/>
                  </a:cubicBezTo>
                  <a:close/>
                </a:path>
              </a:pathLst>
            </a:custGeom>
            <a:solidFill>
              <a:srgbClr val="FF914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53901" cy="1104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00200" y="3838575"/>
            <a:ext cx="6477000" cy="252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RESPOSTA AO A1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ruzar conta, pagamento,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dispositivo e histórico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Revisar compras suspeitas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228725"/>
            <a:ext cx="13144500" cy="1017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b="true" sz="8000" spc="-160">
                <a:solidFill>
                  <a:srgbClr val="FF914D"/>
                </a:solidFill>
                <a:latin typeface="Raleway Heavy"/>
                <a:ea typeface="Raleway Heavy"/>
                <a:cs typeface="Raleway Heavy"/>
                <a:sym typeface="Raleway Heavy"/>
              </a:rPr>
              <a:t>RESPOSTA E ADAPTAÇÃO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411550" y="-1118737"/>
            <a:ext cx="5731489" cy="3560468"/>
            <a:chOff x="0" y="0"/>
            <a:chExt cx="1309479" cy="8134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09479" cy="813463"/>
            </a:xfrm>
            <a:custGeom>
              <a:avLst/>
              <a:gdLst/>
              <a:ahLst/>
              <a:cxnLst/>
              <a:rect r="r" b="b" t="t" l="l"/>
              <a:pathLst>
                <a:path h="813463" w="1309479">
                  <a:moveTo>
                    <a:pt x="12157" y="0"/>
                  </a:moveTo>
                  <a:lnTo>
                    <a:pt x="1297322" y="0"/>
                  </a:lnTo>
                  <a:cubicBezTo>
                    <a:pt x="1300546" y="0"/>
                    <a:pt x="1303638" y="1281"/>
                    <a:pt x="1305918" y="3561"/>
                  </a:cubicBezTo>
                  <a:cubicBezTo>
                    <a:pt x="1308198" y="5841"/>
                    <a:pt x="1309479" y="8933"/>
                    <a:pt x="1309479" y="12157"/>
                  </a:cubicBezTo>
                  <a:lnTo>
                    <a:pt x="1309479" y="801307"/>
                  </a:lnTo>
                  <a:cubicBezTo>
                    <a:pt x="1309479" y="808021"/>
                    <a:pt x="1304036" y="813463"/>
                    <a:pt x="1297322" y="813463"/>
                  </a:cubicBezTo>
                  <a:lnTo>
                    <a:pt x="12157" y="813463"/>
                  </a:lnTo>
                  <a:cubicBezTo>
                    <a:pt x="5443" y="813463"/>
                    <a:pt x="0" y="808021"/>
                    <a:pt x="0" y="801307"/>
                  </a:cubicBezTo>
                  <a:lnTo>
                    <a:pt x="0" y="12157"/>
                  </a:lnTo>
                  <a:cubicBezTo>
                    <a:pt x="0" y="5443"/>
                    <a:pt x="5443" y="0"/>
                    <a:pt x="12157" y="0"/>
                  </a:cubicBez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09479" cy="851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334500" y="3429000"/>
            <a:ext cx="7239000" cy="4667250"/>
            <a:chOff x="0" y="0"/>
            <a:chExt cx="1653901" cy="10663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53901" cy="1066331"/>
            </a:xfrm>
            <a:custGeom>
              <a:avLst/>
              <a:gdLst/>
              <a:ahLst/>
              <a:cxnLst/>
              <a:rect r="r" b="b" t="t" l="l"/>
              <a:pathLst>
                <a:path h="1066331" w="1653901">
                  <a:moveTo>
                    <a:pt x="9625" y="0"/>
                  </a:moveTo>
                  <a:lnTo>
                    <a:pt x="1644276" y="0"/>
                  </a:lnTo>
                  <a:cubicBezTo>
                    <a:pt x="1649592" y="0"/>
                    <a:pt x="1653901" y="4309"/>
                    <a:pt x="1653901" y="9625"/>
                  </a:cubicBezTo>
                  <a:lnTo>
                    <a:pt x="1653901" y="1056706"/>
                  </a:lnTo>
                  <a:cubicBezTo>
                    <a:pt x="1653901" y="1062022"/>
                    <a:pt x="1649592" y="1066331"/>
                    <a:pt x="1644276" y="1066331"/>
                  </a:cubicBezTo>
                  <a:lnTo>
                    <a:pt x="9625" y="1066331"/>
                  </a:lnTo>
                  <a:cubicBezTo>
                    <a:pt x="4309" y="1066331"/>
                    <a:pt x="0" y="1062022"/>
                    <a:pt x="0" y="1056706"/>
                  </a:cubicBezTo>
                  <a:lnTo>
                    <a:pt x="0" y="9625"/>
                  </a:lnTo>
                  <a:cubicBezTo>
                    <a:pt x="0" y="4309"/>
                    <a:pt x="4309" y="0"/>
                    <a:pt x="9625" y="0"/>
                  </a:cubicBezTo>
                  <a:close/>
                </a:path>
              </a:pathLst>
            </a:custGeom>
            <a:solidFill>
              <a:srgbClr val="FF914D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53901" cy="1104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715500" y="3838575"/>
            <a:ext cx="6477000" cy="380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ADVERSÁRIO APRENDE</a:t>
            </a:r>
          </a:p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Desafios revel</a:t>
            </a:r>
            <a:r>
              <a:rPr lang="en-US" sz="3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am padrões</a:t>
            </a:r>
          </a:p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detectados pela plataforma</a:t>
            </a: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PRÓXIMA TENTATIVA</a:t>
            </a:r>
          </a:p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Novas identidades e ritmo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00200" y="8229600"/>
            <a:ext cx="16192500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</a:t>
            </a:r>
            <a:r>
              <a:rPr lang="en-US" sz="3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ustos: atraso e bloqueios indevidos. Risco residual: o abuso persiste.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Preservar justiça, disponibilidade e privacidade.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3429000"/>
            <a:ext cx="7239000" cy="4667250"/>
            <a:chOff x="0" y="0"/>
            <a:chExt cx="1653901" cy="10663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53901" cy="1066331"/>
            </a:xfrm>
            <a:custGeom>
              <a:avLst/>
              <a:gdLst/>
              <a:ahLst/>
              <a:cxnLst/>
              <a:rect r="r" b="b" t="t" l="l"/>
              <a:pathLst>
                <a:path h="1066331" w="1653901">
                  <a:moveTo>
                    <a:pt x="9625" y="0"/>
                  </a:moveTo>
                  <a:lnTo>
                    <a:pt x="1644276" y="0"/>
                  </a:lnTo>
                  <a:cubicBezTo>
                    <a:pt x="1649592" y="0"/>
                    <a:pt x="1653901" y="4309"/>
                    <a:pt x="1653901" y="9625"/>
                  </a:cubicBezTo>
                  <a:lnTo>
                    <a:pt x="1653901" y="1056706"/>
                  </a:lnTo>
                  <a:cubicBezTo>
                    <a:pt x="1653901" y="1062022"/>
                    <a:pt x="1649592" y="1066331"/>
                    <a:pt x="1644276" y="1066331"/>
                  </a:cubicBezTo>
                  <a:lnTo>
                    <a:pt x="9625" y="1066331"/>
                  </a:lnTo>
                  <a:cubicBezTo>
                    <a:pt x="4309" y="1066331"/>
                    <a:pt x="0" y="1062022"/>
                    <a:pt x="0" y="1056706"/>
                  </a:cubicBezTo>
                  <a:lnTo>
                    <a:pt x="0" y="9625"/>
                  </a:lnTo>
                  <a:cubicBezTo>
                    <a:pt x="0" y="4309"/>
                    <a:pt x="4309" y="0"/>
                    <a:pt x="9625" y="0"/>
                  </a:cubicBezTo>
                  <a:close/>
                </a:path>
              </a:pathLst>
            </a:custGeom>
            <a:solidFill>
              <a:srgbClr val="FF914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53901" cy="1104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00200" y="3838575"/>
            <a:ext cx="6477000" cy="380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 QUE CONCLUÍMOS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adversário aprende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 as respostas.</a:t>
            </a: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Defesas reduzem o abuso,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mas também geram atrito.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228725"/>
            <a:ext cx="13144500" cy="1017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b="true" sz="8000" spc="-160">
                <a:solidFill>
                  <a:srgbClr val="FF914D"/>
                </a:solidFill>
                <a:latin typeface="Raleway Heavy"/>
                <a:ea typeface="Raleway Heavy"/>
                <a:cs typeface="Raleway Heavy"/>
                <a:sym typeface="Raleway Heavy"/>
              </a:rPr>
              <a:t>CONCLUSÃO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411550" y="-1118737"/>
            <a:ext cx="5731489" cy="3560468"/>
            <a:chOff x="0" y="0"/>
            <a:chExt cx="1309479" cy="8134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09479" cy="813463"/>
            </a:xfrm>
            <a:custGeom>
              <a:avLst/>
              <a:gdLst/>
              <a:ahLst/>
              <a:cxnLst/>
              <a:rect r="r" b="b" t="t" l="l"/>
              <a:pathLst>
                <a:path h="813463" w="1309479">
                  <a:moveTo>
                    <a:pt x="12157" y="0"/>
                  </a:moveTo>
                  <a:lnTo>
                    <a:pt x="1297322" y="0"/>
                  </a:lnTo>
                  <a:cubicBezTo>
                    <a:pt x="1300546" y="0"/>
                    <a:pt x="1303638" y="1281"/>
                    <a:pt x="1305918" y="3561"/>
                  </a:cubicBezTo>
                  <a:cubicBezTo>
                    <a:pt x="1308198" y="5841"/>
                    <a:pt x="1309479" y="8933"/>
                    <a:pt x="1309479" y="12157"/>
                  </a:cubicBezTo>
                  <a:lnTo>
                    <a:pt x="1309479" y="801307"/>
                  </a:lnTo>
                  <a:cubicBezTo>
                    <a:pt x="1309479" y="808021"/>
                    <a:pt x="1304036" y="813463"/>
                    <a:pt x="1297322" y="813463"/>
                  </a:cubicBezTo>
                  <a:lnTo>
                    <a:pt x="12157" y="813463"/>
                  </a:lnTo>
                  <a:cubicBezTo>
                    <a:pt x="5443" y="813463"/>
                    <a:pt x="0" y="808021"/>
                    <a:pt x="0" y="801307"/>
                  </a:cubicBezTo>
                  <a:lnTo>
                    <a:pt x="0" y="12157"/>
                  </a:lnTo>
                  <a:cubicBezTo>
                    <a:pt x="0" y="5443"/>
                    <a:pt x="5443" y="0"/>
                    <a:pt x="12157" y="0"/>
                  </a:cubicBez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09479" cy="851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334500" y="3429000"/>
            <a:ext cx="7239000" cy="4667250"/>
            <a:chOff x="0" y="0"/>
            <a:chExt cx="1653901" cy="10663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53901" cy="1066331"/>
            </a:xfrm>
            <a:custGeom>
              <a:avLst/>
              <a:gdLst/>
              <a:ahLst/>
              <a:cxnLst/>
              <a:rect r="r" b="b" t="t" l="l"/>
              <a:pathLst>
                <a:path h="1066331" w="1653901">
                  <a:moveTo>
                    <a:pt x="9625" y="0"/>
                  </a:moveTo>
                  <a:lnTo>
                    <a:pt x="1644276" y="0"/>
                  </a:lnTo>
                  <a:cubicBezTo>
                    <a:pt x="1649592" y="0"/>
                    <a:pt x="1653901" y="4309"/>
                    <a:pt x="1653901" y="9625"/>
                  </a:cubicBezTo>
                  <a:lnTo>
                    <a:pt x="1653901" y="1056706"/>
                  </a:lnTo>
                  <a:cubicBezTo>
                    <a:pt x="1653901" y="1062022"/>
                    <a:pt x="1649592" y="1066331"/>
                    <a:pt x="1644276" y="1066331"/>
                  </a:cubicBezTo>
                  <a:lnTo>
                    <a:pt x="9625" y="1066331"/>
                  </a:lnTo>
                  <a:cubicBezTo>
                    <a:pt x="4309" y="1066331"/>
                    <a:pt x="0" y="1062022"/>
                    <a:pt x="0" y="1056706"/>
                  </a:cubicBezTo>
                  <a:lnTo>
                    <a:pt x="0" y="9625"/>
                  </a:lnTo>
                  <a:cubicBezTo>
                    <a:pt x="0" y="4309"/>
                    <a:pt x="4309" y="0"/>
                    <a:pt x="9625" y="0"/>
                  </a:cubicBezTo>
                  <a:close/>
                </a:path>
              </a:pathLst>
            </a:custGeom>
            <a:solidFill>
              <a:srgbClr val="FF914D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53901" cy="1104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715500" y="3838575"/>
            <a:ext cx="6477000" cy="380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TRABALHO 2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Simul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 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fi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est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oqu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om d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ados 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sintéticos.</a:t>
            </a:r>
          </a:p>
          <a:p>
            <a:pPr algn="l">
              <a:lnSpc>
                <a:spcPts val="5040"/>
              </a:lnSpc>
            </a:pP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 c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nt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oles e</a:t>
            </a:r>
          </a:p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bser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lso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pos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iv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3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8250" y="8158480"/>
            <a:ext cx="16192500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Preservar justiça, disponibilidade e privacidade.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Próxima etapa: ambiente próprio, sem dados reais.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3429000"/>
            <a:ext cx="7239000" cy="4667250"/>
            <a:chOff x="0" y="0"/>
            <a:chExt cx="1653901" cy="10663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53901" cy="1066331"/>
            </a:xfrm>
            <a:custGeom>
              <a:avLst/>
              <a:gdLst/>
              <a:ahLst/>
              <a:cxnLst/>
              <a:rect r="r" b="b" t="t" l="l"/>
              <a:pathLst>
                <a:path h="1066331" w="1653901">
                  <a:moveTo>
                    <a:pt x="9625" y="0"/>
                  </a:moveTo>
                  <a:lnTo>
                    <a:pt x="1644276" y="0"/>
                  </a:lnTo>
                  <a:cubicBezTo>
                    <a:pt x="1649592" y="0"/>
                    <a:pt x="1653901" y="4309"/>
                    <a:pt x="1653901" y="9625"/>
                  </a:cubicBezTo>
                  <a:lnTo>
                    <a:pt x="1653901" y="1056706"/>
                  </a:lnTo>
                  <a:cubicBezTo>
                    <a:pt x="1653901" y="1062022"/>
                    <a:pt x="1649592" y="1066331"/>
                    <a:pt x="1644276" y="1066331"/>
                  </a:cubicBezTo>
                  <a:lnTo>
                    <a:pt x="9625" y="1066331"/>
                  </a:lnTo>
                  <a:cubicBezTo>
                    <a:pt x="4309" y="1066331"/>
                    <a:pt x="0" y="1062022"/>
                    <a:pt x="0" y="1056706"/>
                  </a:cubicBezTo>
                  <a:lnTo>
                    <a:pt x="0" y="9625"/>
                  </a:lnTo>
                  <a:cubicBezTo>
                    <a:pt x="0" y="4309"/>
                    <a:pt x="4309" y="0"/>
                    <a:pt x="9625" y="0"/>
                  </a:cubicBezTo>
                  <a:close/>
                </a:path>
              </a:pathLst>
            </a:custGeom>
            <a:solidFill>
              <a:srgbClr val="FF914D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53901" cy="1104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00200" y="3848100"/>
            <a:ext cx="6477000" cy="334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JOGOS DE INSPEÇÃO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</a:t>
            </a:r>
            <a:r>
              <a:rPr lang="en-US" sz="3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venhaus, von Stengel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 Zamir (2002).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Inspection games.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Handbook of Game Theory,</a:t>
            </a:r>
          </a:p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v. 3, p. 1947–1987.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228725"/>
            <a:ext cx="13144500" cy="1017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b="true" sz="8000" spc="-160">
                <a:solidFill>
                  <a:srgbClr val="FF914D"/>
                </a:solidFill>
                <a:latin typeface="Raleway Heavy"/>
                <a:ea typeface="Raleway Heavy"/>
                <a:cs typeface="Raleway Heavy"/>
                <a:sym typeface="Raleway Heavy"/>
              </a:rPr>
              <a:t>REFERÊNCIAS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411550" y="-1118737"/>
            <a:ext cx="5731489" cy="3560468"/>
            <a:chOff x="0" y="0"/>
            <a:chExt cx="1309479" cy="8134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09479" cy="813463"/>
            </a:xfrm>
            <a:custGeom>
              <a:avLst/>
              <a:gdLst/>
              <a:ahLst/>
              <a:cxnLst/>
              <a:rect r="r" b="b" t="t" l="l"/>
              <a:pathLst>
                <a:path h="813463" w="1309479">
                  <a:moveTo>
                    <a:pt x="12157" y="0"/>
                  </a:moveTo>
                  <a:lnTo>
                    <a:pt x="1297322" y="0"/>
                  </a:lnTo>
                  <a:cubicBezTo>
                    <a:pt x="1300546" y="0"/>
                    <a:pt x="1303638" y="1281"/>
                    <a:pt x="1305918" y="3561"/>
                  </a:cubicBezTo>
                  <a:cubicBezTo>
                    <a:pt x="1308198" y="5841"/>
                    <a:pt x="1309479" y="8933"/>
                    <a:pt x="1309479" y="12157"/>
                  </a:cubicBezTo>
                  <a:lnTo>
                    <a:pt x="1309479" y="801307"/>
                  </a:lnTo>
                  <a:cubicBezTo>
                    <a:pt x="1309479" y="808021"/>
                    <a:pt x="1304036" y="813463"/>
                    <a:pt x="1297322" y="813463"/>
                  </a:cubicBezTo>
                  <a:lnTo>
                    <a:pt x="12157" y="813463"/>
                  </a:lnTo>
                  <a:cubicBezTo>
                    <a:pt x="5443" y="813463"/>
                    <a:pt x="0" y="808021"/>
                    <a:pt x="0" y="801307"/>
                  </a:cubicBezTo>
                  <a:lnTo>
                    <a:pt x="0" y="12157"/>
                  </a:lnTo>
                  <a:cubicBezTo>
                    <a:pt x="0" y="5443"/>
                    <a:pt x="5443" y="0"/>
                    <a:pt x="12157" y="0"/>
                  </a:cubicBez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09479" cy="8515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334500" y="3429000"/>
            <a:ext cx="7239000" cy="4667250"/>
            <a:chOff x="0" y="0"/>
            <a:chExt cx="1653901" cy="10663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53901" cy="1066331"/>
            </a:xfrm>
            <a:custGeom>
              <a:avLst/>
              <a:gdLst/>
              <a:ahLst/>
              <a:cxnLst/>
              <a:rect r="r" b="b" t="t" l="l"/>
              <a:pathLst>
                <a:path h="1066331" w="1653901">
                  <a:moveTo>
                    <a:pt x="9625" y="0"/>
                  </a:moveTo>
                  <a:lnTo>
                    <a:pt x="1644276" y="0"/>
                  </a:lnTo>
                  <a:cubicBezTo>
                    <a:pt x="1649592" y="0"/>
                    <a:pt x="1653901" y="4309"/>
                    <a:pt x="1653901" y="9625"/>
                  </a:cubicBezTo>
                  <a:lnTo>
                    <a:pt x="1653901" y="1056706"/>
                  </a:lnTo>
                  <a:cubicBezTo>
                    <a:pt x="1653901" y="1062022"/>
                    <a:pt x="1649592" y="1066331"/>
                    <a:pt x="1644276" y="1066331"/>
                  </a:cubicBezTo>
                  <a:lnTo>
                    <a:pt x="9625" y="1066331"/>
                  </a:lnTo>
                  <a:cubicBezTo>
                    <a:pt x="4309" y="1066331"/>
                    <a:pt x="0" y="1062022"/>
                    <a:pt x="0" y="1056706"/>
                  </a:cubicBezTo>
                  <a:lnTo>
                    <a:pt x="0" y="9625"/>
                  </a:lnTo>
                  <a:cubicBezTo>
                    <a:pt x="0" y="4309"/>
                    <a:pt x="4309" y="0"/>
                    <a:pt x="9625" y="0"/>
                  </a:cubicBezTo>
                  <a:close/>
                </a:path>
              </a:pathLst>
            </a:custGeom>
            <a:solidFill>
              <a:srgbClr val="FF914D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53901" cy="1104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715500" y="3848100"/>
            <a:ext cx="6477000" cy="334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OWASP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Automat</a:t>
            </a: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ed</a:t>
            </a: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Threats t</a:t>
            </a: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Web Applications.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OAT-005, OAT-009 e OAT-021.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Scalping, CAPTCHA e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retenção de</a:t>
            </a: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</a:t>
            </a: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toque</a:t>
            </a: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00200" y="8229600"/>
            <a:ext cx="16192500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IA:</a:t>
            </a:r>
            <a:r>
              <a:rPr lang="en-US" sz="27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apoio à análise, aos diagramas e à revisão, com conferência.</a:t>
            </a:r>
          </a:p>
          <a:p>
            <a:pPr algn="l">
              <a:lnSpc>
                <a:spcPts val="3919"/>
              </a:lnSpc>
            </a:pPr>
            <a:r>
              <a:rPr lang="en-US" b="true" sz="2799" u="sng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  <a:hlinkClick r:id="rId2" tooltip="https://github.com/felipehscherer/trabalho-engenharia-adversarial"/>
              </a:rPr>
              <a:t>github.com/felipehscherer/trabalho-engenharia-adversarial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DAHXMCjOzeo</dc:identifier>
  <dcterms:modified xsi:type="dcterms:W3CDTF">2011-08-01T06:04:30Z</dcterms:modified>
  <cp:revision>1</cp:revision>
  <dc:title>Apresentação Engenharia de Software Adversarial</dc:title>
</cp:coreProperties>
</file>